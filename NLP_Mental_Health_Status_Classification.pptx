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8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282B"/>
                </a:solidFill>
                <a:latin typeface="Arial"/>
              </a:rPr>
              <a:t>Status Distribution (52,681 rows)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 Distribution</c:v>
                </c:pt>
              </c:strCache>
            </c:strRef>
          </c:tx>
          <c:spPr>
            <a:solidFill>
              <a:srgbClr val="0280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Normal</c:v>
                  </c:pt>
                  <c:pt idx="1">
                    <c:v>Depression</c:v>
                  </c:pt>
                  <c:pt idx="2">
                    <c:v>Suicidal</c:v>
                  </c:pt>
                  <c:pt idx="3">
                    <c:v>Anxiety</c:v>
                  </c:pt>
                  <c:pt idx="4">
                    <c:v>Bipolar</c:v>
                  </c:pt>
                  <c:pt idx="5">
                    <c:v>Stress</c:v>
                  </c:pt>
                  <c:pt idx="6">
                    <c:v>Personality
disorder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16343</c:v>
                </c:pt>
                <c:pt idx="1">
                  <c:v>15404</c:v>
                </c:pt>
                <c:pt idx="2">
                  <c:v>10652</c:v>
                </c:pt>
                <c:pt idx="3">
                  <c:v>3841</c:v>
                </c:pt>
                <c:pt idx="4">
                  <c:v>2777</c:v>
                </c:pt>
                <c:pt idx="5">
                  <c:v>2587</c:v>
                </c:pt>
                <c:pt idx="6">
                  <c:v>1077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328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6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8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282B"/>
                </a:solidFill>
                <a:latin typeface="Arial"/>
              </a:rPr>
              <a:t>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2808F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LSTM (10 epochs)</c:v>
                  </c:pt>
                  <c:pt idx="1">
                    <c:v>BiLSTM (15 epochs)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70.31</c:v>
                </c:pt>
                <c:pt idx="1">
                  <c:v>78.7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328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6350" cap="flat">
              <a:solidFill>
                <a:srgbClr val="DDE6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0280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Normal</c:v>
                  </c:pt>
                  <c:pt idx="1">
                    <c:v>Bipolar</c:v>
                  </c:pt>
                  <c:pt idx="2">
                    <c:v>Anxiety</c:v>
                  </c:pt>
                  <c:pt idx="3">
                    <c:v>Depression</c:v>
                  </c:pt>
                  <c:pt idx="4">
                    <c:v>Suicidal</c:v>
                  </c:pt>
                  <c:pt idx="5">
                    <c:v>Personality
disorder</c:v>
                  </c:pt>
                  <c:pt idx="6">
                    <c:v>Stress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0.92</c:v>
                </c:pt>
                <c:pt idx="1">
                  <c:v>0.84</c:v>
                </c:pt>
                <c:pt idx="2">
                  <c:v>0.82</c:v>
                </c:pt>
                <c:pt idx="3">
                  <c:v>0.72</c:v>
                </c:pt>
                <c:pt idx="4">
                  <c:v>0.7</c:v>
                </c:pt>
                <c:pt idx="5">
                  <c:v>0.68</c:v>
                </c:pt>
                <c:pt idx="6">
                  <c:v>0.59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8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328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6350" cap="flat">
              <a:solidFill>
                <a:srgbClr val="DDE6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 ·  DEEP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Mental Health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Classification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F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LSTM and Bidirectional LSTM architectures with custom-trained FastText embeddings to classify personal statements into 7 mental-health status categories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715000"/>
            <a:ext cx="2011680" cy="0"/>
          </a:xfrm>
          <a:prstGeom prst="line">
            <a:avLst/>
          </a:prstGeom>
          <a:noFill/>
          <a:ln w="25400">
            <a:solidFill>
              <a:srgbClr val="0280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108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Mental Health Status Notebook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389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statements — Reddit-style posts, journal entries, forum messages — carry signals of underlying mental-health states, but manual screening does not scale.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deep-learning pipeline that reads a raw statement and predicts one of seven mental-health status labels, moving beyond simple positive / negative sentiment into fine-grained, clinically-relevant categories.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03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53,043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4315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RECORDS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88920" y="361188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EEF3F4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3703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80360" y="4315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CLASSES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20640" y="361188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EEF3F4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3703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212080" y="4315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COMPARED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52360" y="1234440"/>
            <a:ext cx="4251960" cy="3611880"/>
          </a:xfrm>
          <a:prstGeom prst="roundRect">
            <a:avLst>
              <a:gd name="adj" fmla="val 2532"/>
            </a:avLst>
          </a:prstGeom>
          <a:solidFill>
            <a:srgbClr val="0B2E3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187452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statement into one of 7 mental-health categories — Normal, Depression, Suicidal, Anxiety, Bipolar, Stress and Personality Disorder — using sequence deep-learning models trained on subword-aware embeddings.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0" y="4023360"/>
            <a:ext cx="3291840" cy="0"/>
          </a:xfrm>
          <a:prstGeom prst="line">
            <a:avLst/>
          </a:prstGeom>
          <a:noFill/>
          <a:ln w="12700">
            <a:solidFill>
              <a:srgbClr val="0A5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41605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Combined Data.csv (statement, status)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using NLP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389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Data.csv — personal statements labeled with one of 7 mental-health status categories. Rows with missing statements were dropped after cleaning.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965960"/>
          <a:ext cx="71323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234440"/>
            <a:ext cx="3977640" cy="5166360"/>
          </a:xfrm>
          <a:prstGeom prst="roundRect">
            <a:avLst>
              <a:gd name="adj" fmla="val 2299"/>
            </a:avLst>
          </a:prstGeom>
          <a:solidFill>
            <a:srgbClr val="EEF3F4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FACTS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53,043 x 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0" y="2240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shape (rows x cols)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4672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 duplicate rows found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46720" y="3977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52,681 rows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0" y="4343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dropping 362 rows with missing text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46720" y="5029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imbalanced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0" y="5394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'Normal' + 'Depression' are ~60% of data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using NLP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389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EEF3F4"/>
          </a:solidFill>
          <a:ln/>
        </p:spPr>
      </p:sp>
      <p:sp>
        <p:nvSpPr>
          <p:cNvPr id="6" name="Shape 4"/>
          <p:cNvSpPr/>
          <p:nvPr/>
        </p:nvSpPr>
        <p:spPr>
          <a:xfrm>
            <a:off x="1467612" y="1691640"/>
            <a:ext cx="585216" cy="585216"/>
          </a:xfrm>
          <a:prstGeom prst="ellipse">
            <a:avLst/>
          </a:prstGeom>
          <a:solidFill>
            <a:srgbClr val="02808F"/>
          </a:solidFill>
          <a:ln/>
        </p:spPr>
      </p:sp>
      <p:sp>
        <p:nvSpPr>
          <p:cNvPr id="7" name="Text 5"/>
          <p:cNvSpPr/>
          <p:nvPr/>
        </p:nvSpPr>
        <p:spPr>
          <a:xfrm>
            <a:off x="1467612" y="16916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&amp; Clean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Lowercased text; stripped URLs, HTML tags, punctuation &amp; digits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81528" y="265176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19272" y="141732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EEF3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329684" y="1691640"/>
            <a:ext cx="585216" cy="585216"/>
          </a:xfrm>
          <a:prstGeom prst="ellipse">
            <a:avLst/>
          </a:prstGeom>
          <a:solidFill>
            <a:srgbClr val="02808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9684" y="16916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56432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02152" y="30175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cleaned text into word tokens using NLTK's word_tokenize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81344" y="141732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EEF3F4"/>
          </a:solidFill>
          <a:ln/>
        </p:spPr>
      </p:sp>
      <p:sp>
        <p:nvSpPr>
          <p:cNvPr id="18" name="Shape 16"/>
          <p:cNvSpPr/>
          <p:nvPr/>
        </p:nvSpPr>
        <p:spPr>
          <a:xfrm>
            <a:off x="7191756" y="1691640"/>
            <a:ext cx="585216" cy="585216"/>
          </a:xfrm>
          <a:prstGeom prst="ellipse">
            <a:avLst/>
          </a:prstGeom>
          <a:solidFill>
            <a:srgbClr val="02808F"/>
          </a:solidFill>
          <a:ln/>
        </p:spPr>
      </p:sp>
      <p:sp>
        <p:nvSpPr>
          <p:cNvPr id="19" name="Text 17"/>
          <p:cNvSpPr/>
          <p:nvPr/>
        </p:nvSpPr>
        <p:spPr>
          <a:xfrm>
            <a:off x="7191756" y="16916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18504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64224" y="30175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standard NLTK English stopwords from every statement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05672" y="265176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43416" y="141732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EEF3F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53828" y="1691640"/>
            <a:ext cx="585216" cy="585216"/>
          </a:xfrm>
          <a:prstGeom prst="ellipse">
            <a:avLst/>
          </a:prstGeom>
          <a:solidFill>
            <a:srgbClr val="02808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3828" y="16916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80576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26296" y="30175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Lemmatized tokens with WordNetLemmatizer, then rejoined into a clean sentence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0B2E3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0749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103120" y="50749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cleaned 'statement' column of lemmatized, noise-free tokens, ready for sequence encoding and embedding lookup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using NLP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389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Encoding &amp; FastText Embeddings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EEF3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TOKENIZATION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most frequent words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614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815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status classes via LabelEncoder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5701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8770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 (random_state = 42)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35254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sequence length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67258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tokens per statement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1480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4681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post-padding to fixed length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280160"/>
            <a:ext cx="5577840" cy="5029200"/>
          </a:xfrm>
          <a:prstGeom prst="roundRect">
            <a:avLst>
              <a:gd name="adj" fmla="val 1818"/>
            </a:avLst>
          </a:prstGeom>
          <a:solidFill>
            <a:srgbClr val="0B2E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508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CUSTOM-TRAINED FASTTEXT EMBEDDINGS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Skip-gram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286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from scratch on the training statements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7614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dimension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0815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100-dimensional word vectors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5570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n-grams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8770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subword info from 3-gram to 6-gram, robust to typos &amp; OOV words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3525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matrix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67258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20,000-word vocabulary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51480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54681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(trainable = False) in both models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using NLP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389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Deep Learning Architectures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2808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1700784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→ 64 units, single direction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(frozen FastText)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70632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4ED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70632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LSTM(128, return_sequences)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00984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00984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4ED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31336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LSTM(64)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61688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61688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4EDE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92040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Dense(64, relu)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422392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422392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952744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4EDE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952744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Dense(7, softmax)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2801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2808F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12801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92240" y="1700784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F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→ 64 units, both directions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240280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2240280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(frozen FastText)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2770632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4EDEE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2770632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LSTM(128, return_sequences)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3300984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3300984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3831336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4EDEE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3831336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LSTM(64)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4361688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4361688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4892040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4EDEE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4892040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Dense(64, relu)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63640" y="5422392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EF3F4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5422392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63640" y="5952744"/>
            <a:ext cx="5440680" cy="438912"/>
          </a:xfrm>
          <a:prstGeom prst="roundRect">
            <a:avLst>
              <a:gd name="adj" fmla="val 12500"/>
            </a:avLst>
          </a:prstGeom>
          <a:solidFill>
            <a:srgbClr val="E4EDEE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5952744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Dense(7, softmax)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using NLP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389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accuracy after training, each model using the same frozen custom FastText embedding layer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73736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828800"/>
            <a:ext cx="3977640" cy="1965960"/>
          </a:xfrm>
          <a:prstGeom prst="roundRect">
            <a:avLst>
              <a:gd name="adj" fmla="val 4651"/>
            </a:avLst>
          </a:prstGeom>
          <a:solidFill>
            <a:srgbClr val="EEF3F4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20116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70.31%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04672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loss: 0.779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0" y="4069080"/>
            <a:ext cx="3977640" cy="1965960"/>
          </a:xfrm>
          <a:prstGeom prst="roundRect">
            <a:avLst>
              <a:gd name="adj" fmla="val 4651"/>
            </a:avLst>
          </a:prstGeom>
          <a:solidFill>
            <a:srgbClr val="0B2E32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42519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78.70%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046720" y="5029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046720" y="5394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loss: 0.560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using NLP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389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Bidirectional LSTM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EF3F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EF3F4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2984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9184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EF3F4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2984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0" y="12344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EEF3F4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0" y="12984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407,559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6112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RESULTS (F1-SCORE)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" y="2971800"/>
          <a:ext cx="70408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7772400" y="1234440"/>
            <a:ext cx="3977640" cy="5166360"/>
          </a:xfrm>
          <a:prstGeom prst="roundRect">
            <a:avLst>
              <a:gd name="adj" fmla="val 2299"/>
            </a:avLst>
          </a:prstGeom>
          <a:solidFill>
            <a:srgbClr val="0B2E32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STRUGGLES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46720" y="19202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LSTM never once predicted 'Personality Disorder' (0.00 F1, 237 test samples) — the BiLSTM's bidirectional context recovers real signal there, reaching 0.68 F1.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46720" y="3429000"/>
            <a:ext cx="3291840" cy="0"/>
          </a:xfrm>
          <a:prstGeom prst="line">
            <a:avLst/>
          </a:prstGeom>
          <a:noFill/>
          <a:ln w="12700">
            <a:solidFill>
              <a:srgbClr val="0A5F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0" y="36118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and Suicidal statements share very similar language: in the baseline model, over 700 samples from each class were misclassified as the other — the single largest confusion pattern in the dataset.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046720" y="5257800"/>
            <a:ext cx="3291840" cy="0"/>
          </a:xfrm>
          <a:prstGeom prst="line">
            <a:avLst/>
          </a:prstGeom>
          <a:noFill/>
          <a:ln w="12700">
            <a:solidFill>
              <a:srgbClr val="0A5F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46720" y="53949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'Stress' remains the weakest class overall (0.59 F1) — its language overlaps heavily with Depression and Normal.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using NLP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389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 &amp; Synthetic Validation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49240" cy="5029200"/>
          </a:xfrm>
          <a:prstGeom prst="roundRect">
            <a:avLst>
              <a:gd name="adj" fmla="val 1818"/>
            </a:avLst>
          </a:prstGeom>
          <a:solidFill>
            <a:srgbClr val="EEF3F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E2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1168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feel depressed."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BiLSTM model predicts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"Normal"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explicit statement of low mood is still read as 'Normal' — a reminder that headline accuracy hides real failure cases on short, direct text.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5715000" cy="5029200"/>
          </a:xfrm>
          <a:prstGeom prst="roundRect">
            <a:avLst>
              <a:gd name="adj" fmla="val 1818"/>
            </a:avLst>
          </a:prstGeom>
          <a:solidFill>
            <a:srgbClr val="0B2E32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SYNTHETIC VALIDATION 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19202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hand-written statements (5 per class, 7 classes) in clean, explicit language — built to test generalization beyond the informal, Reddit-style training distribution.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30175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355080" y="3886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BALANCED SET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50" kern="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78.70% on the original test split)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4617720"/>
            <a:ext cx="5029200" cy="0"/>
          </a:xfrm>
          <a:prstGeom prst="line">
            <a:avLst/>
          </a:prstGeom>
          <a:noFill/>
          <a:ln w="12700">
            <a:solidFill>
              <a:srgbClr val="0A5F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7548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Strongest: Anxiety and Suicidal were partially recognized. Weakest: the model over-predicts 'Normal' and 'Depression' on almost every other class.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55080" y="55321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sharp drop shows the model leans on informal, source-distribution phrasing rather than deep semantic understanding of mental-health language.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using NLP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280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389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4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02808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Architecture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532888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BiLSTM outperformed plain LSTM on every metric (78.70% vs 70.31% test accuracy) thanks to bidirectional context.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88536" y="13258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4"/>
          </a:solidFill>
          <a:ln/>
        </p:spPr>
      </p:sp>
      <p:sp>
        <p:nvSpPr>
          <p:cNvPr id="11" name="Shape 9"/>
          <p:cNvSpPr/>
          <p:nvPr/>
        </p:nvSpPr>
        <p:spPr>
          <a:xfrm>
            <a:off x="4517136" y="1554480"/>
            <a:ext cx="457200" cy="457200"/>
          </a:xfrm>
          <a:prstGeom prst="ellipse">
            <a:avLst/>
          </a:prstGeom>
          <a:solidFill>
            <a:srgbClr val="02808F"/>
          </a:solidFill>
          <a:ln/>
        </p:spPr>
      </p:sp>
      <p:sp>
        <p:nvSpPr>
          <p:cNvPr id="12" name="Text 10"/>
          <p:cNvSpPr/>
          <p:nvPr/>
        </p:nvSpPr>
        <p:spPr>
          <a:xfrm>
            <a:off x="451713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7136" y="2103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From Scratch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17136" y="2532888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skip-gram FastText model (100d, char n-grams 3-6) trained directly on the corpus gave subword-level robustness.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132588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348472" y="1554480"/>
            <a:ext cx="457200" cy="457200"/>
          </a:xfrm>
          <a:prstGeom prst="ellipse">
            <a:avLst/>
          </a:prstGeom>
          <a:solidFill>
            <a:srgbClr val="02808F"/>
          </a:solidFill>
          <a:ln/>
        </p:spPr>
      </p:sp>
      <p:sp>
        <p:nvSpPr>
          <p:cNvPr id="17" name="Text 15"/>
          <p:cNvSpPr/>
          <p:nvPr/>
        </p:nvSpPr>
        <p:spPr>
          <a:xfrm>
            <a:off x="8348472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48472" y="2103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a Real Limiter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48472" y="2532888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'Normal' and 'Depression' make up ~60% of the data; rare classes like Personality Disorder need targeted resampling.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02808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663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/ Suicidal Overlap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" y="5093208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classes share very similar language and are each other's single largest source of misclassification.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88536" y="38862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4"/>
          </a:solidFill>
          <a:ln/>
        </p:spPr>
      </p:sp>
      <p:sp>
        <p:nvSpPr>
          <p:cNvPr id="26" name="Shape 24"/>
          <p:cNvSpPr/>
          <p:nvPr/>
        </p:nvSpPr>
        <p:spPr>
          <a:xfrm>
            <a:off x="4517136" y="4114800"/>
            <a:ext cx="457200" cy="457200"/>
          </a:xfrm>
          <a:prstGeom prst="ellipse">
            <a:avLst/>
          </a:prstGeom>
          <a:solidFill>
            <a:srgbClr val="02808F"/>
          </a:solidFill>
          <a:ln/>
        </p:spPr>
      </p:sp>
      <p:sp>
        <p:nvSpPr>
          <p:cNvPr id="27" name="Text 25"/>
          <p:cNvSpPr/>
          <p:nvPr/>
        </p:nvSpPr>
        <p:spPr>
          <a:xfrm>
            <a:off x="4517136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17136" y="4663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Gap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17136" y="5093208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dropped from 78.70% on the test split to 31.4% on a clean, hand-written synthetic set — a real limitation to address.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9872" y="388620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EEF3F4"/>
          </a:solidFill>
          <a:ln/>
        </p:spPr>
      </p:sp>
      <p:sp>
        <p:nvSpPr>
          <p:cNvPr id="31" name="Shape 29"/>
          <p:cNvSpPr/>
          <p:nvPr/>
        </p:nvSpPr>
        <p:spPr>
          <a:xfrm>
            <a:off x="8348472" y="4114800"/>
            <a:ext cx="457200" cy="457200"/>
          </a:xfrm>
          <a:prstGeom prst="ellipse">
            <a:avLst/>
          </a:prstGeom>
          <a:solidFill>
            <a:srgbClr val="02808F"/>
          </a:solidFill>
          <a:ln/>
        </p:spPr>
      </p:sp>
      <p:sp>
        <p:nvSpPr>
          <p:cNvPr id="32" name="Text 30"/>
          <p:cNvSpPr/>
          <p:nvPr/>
        </p:nvSpPr>
        <p:spPr>
          <a:xfrm>
            <a:off x="8348472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48472" y="4663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Artifacts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48472" y="5093208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BiLSTM model was serialized (.keras) and downloaded for downstream reuse or deployment.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using NLP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0280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Classification  ·  LSTM · BiLSTM  ·  Custom FastText Embeddings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2026-07-24T02:36:49Z</dcterms:created>
  <dcterms:modified xsi:type="dcterms:W3CDTF">2026-07-24T02:36:49Z</dcterms:modified>
</cp:coreProperties>
</file>